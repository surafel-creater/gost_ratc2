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the project as GhostRat C2 Framework, developed by Surafel Worku. State that the project is discussed for controlled, authorized cybersecurity research. Do not claim results beyond what was tested.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Summarize the project accurately. Emphasize that the deck describes a test workflow, not a claim that every environment will behave the same way.</a:t>
            </a:r>
            <a:endParaRPr/>
          </a:p>
        </p:txBody>
      </p:sp>
      <p:sp>
        <p:nvSpPr>
          <p:cNvPr id="121" name="Google Shape;1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the motivation as workflow organization and learning. Avoid framing security-control changes as a recommended way to deploy software.</a:t>
            </a:r>
            <a:endParaRPr/>
          </a:p>
        </p:txBody>
      </p:sp>
      <p:sp>
        <p:nvSpPr>
          <p:cNvPr id="150" name="Google Shape;15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lists only the features the developer reported. If a feature is incomplete or experimental, label it as such during the presentation.</a:t>
            </a:r>
            <a:endParaRPr/>
          </a:p>
        </p:txBody>
      </p:sp>
      <p:sp>
        <p:nvSpPr>
          <p:cNvPr id="173" name="Google Shape;17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that automatic detection depends on the network environment and may require a manual override. The default port can be occupied or blocked.</a:t>
            </a:r>
            <a:endParaRPr/>
          </a:p>
        </p:txBody>
      </p:sp>
      <p:sp>
        <p:nvSpPr>
          <p:cNvPr id="207" name="Google Shape;20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includes the reported workflow stages but intentionally stays at a conceptual level. Do not demonstrate a live payload against a real user's computer.</a:t>
            </a:r>
            <a:endParaRPr/>
          </a:p>
        </p:txBody>
      </p:sp>
      <p:sp>
        <p:nvSpPr>
          <p:cNvPr id="226" name="Google Shape;22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Describe the reported sequence at a high level. Do not provide command lines or instructions for adding exclusions or launching a remote-control payload. Explain that this behavior should be tested only in an isolated lab and monitored with Windows security logs.</a:t>
            </a:r>
            <a:endParaRPr/>
          </a:p>
        </p:txBody>
      </p:sp>
      <p:sp>
        <p:nvSpPr>
          <p:cNvPr id="267" name="Google Shape;26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Make clear that the project currently relies on a user clicking the BAT file, according to the developer. Do not call it fully automatic USB autorun unless that behavior has been independently demonstrated on the target system.</a:t>
            </a:r>
            <a:endParaRPr/>
          </a:p>
        </p:txBody>
      </p:sp>
      <p:sp>
        <p:nvSpPr>
          <p:cNvPr id="303" name="Google Shape;30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listener configuration in general terms. A configured listener does not guarantee a successful connection; routing, firewall rules, address selection, and payload configuration all affect results.</a:t>
            </a:r>
            <a:endParaRPr/>
          </a:p>
        </p:txBody>
      </p:sp>
      <p:sp>
        <p:nvSpPr>
          <p:cNvPr id="322" name="Google Shape;32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a conceptual diagram based on the features reported. Do not present it as a source-code call graph unless you verify that the implementation matches.</a:t>
            </a:r>
            <a:endParaRPr/>
          </a:p>
        </p:txBody>
      </p:sp>
      <p:sp>
        <p:nvSpPr>
          <p:cNvPr id="345" name="Google Shape;34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defensive value of the project. In a lab, collect logs and document what Defender blocks, alerts on, or allows. Do not describe the existence of an exclusion as proof of evasion.</a:t>
            </a:r>
            <a:endParaRPr/>
          </a:p>
        </p:txBody>
      </p:sp>
      <p:sp>
        <p:nvSpPr>
          <p:cNvPr id="375" name="Google Shape;37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is a validation plan rather than fabricated test results. Replace or annotate it with your real results and screenshots before presenting.</a:t>
            </a:r>
            <a:endParaRPr/>
          </a:p>
        </p:txBody>
      </p:sp>
      <p:sp>
        <p:nvSpPr>
          <p:cNvPr id="400" name="Google Shape;40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4" name="Google Shape;43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 these as potential future work unless already implemented. Emphasize robustness, clear documentation, and safe testing boundaries.</a:t>
            </a:r>
            <a:endParaRPr/>
          </a:p>
        </p:txBody>
      </p:sp>
      <p:sp>
        <p:nvSpPr>
          <p:cNvPr id="435" name="Google Shape;43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0" name="Google Shape;46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establishes the authorization boundary. Keep test artifacts isolated, avoid third-party systems, and remove test files when the exercise is complete.</a:t>
            </a:r>
            <a:endParaRPr/>
          </a:p>
        </p:txBody>
      </p:sp>
      <p:sp>
        <p:nvSpPr>
          <p:cNvPr id="461" name="Google Shape;46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3" name="Google Shape;48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with the actual scope and tested results. Invite questions about architecture, validation, and defensive observations.</a:t>
            </a:r>
            <a:endParaRPr/>
          </a:p>
        </p:txBody>
      </p:sp>
      <p:sp>
        <p:nvSpPr>
          <p:cNvPr id="484" name="Google Shape;48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5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7315200" y="731520"/>
            <a:ext cx="10972" cy="5303520"/>
          </a:xfrm>
          <a:prstGeom prst="rect">
            <a:avLst/>
          </a:prstGeom>
          <a:solidFill>
            <a:srgbClr val="1F2631"/>
          </a:solidFill>
          <a:ln cap="flat" cmpd="sng" w="9525">
            <a:solidFill>
              <a:srgbClr val="1F263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790688" y="731520"/>
            <a:ext cx="10972" cy="5303520"/>
          </a:xfrm>
          <a:prstGeom prst="rect">
            <a:avLst/>
          </a:prstGeom>
          <a:solidFill>
            <a:srgbClr val="1F2631"/>
          </a:solidFill>
          <a:ln cap="flat" cmpd="sng" w="9525">
            <a:solidFill>
              <a:srgbClr val="1F263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8266175" y="731520"/>
            <a:ext cx="10972" cy="5303520"/>
          </a:xfrm>
          <a:prstGeom prst="rect">
            <a:avLst/>
          </a:prstGeom>
          <a:solidFill>
            <a:srgbClr val="1F2631"/>
          </a:solidFill>
          <a:ln cap="flat" cmpd="sng" w="9525">
            <a:solidFill>
              <a:srgbClr val="1F263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8741664" y="731520"/>
            <a:ext cx="10972" cy="5303520"/>
          </a:xfrm>
          <a:prstGeom prst="rect">
            <a:avLst/>
          </a:prstGeom>
          <a:solidFill>
            <a:srgbClr val="1F2631"/>
          </a:solidFill>
          <a:ln cap="flat" cmpd="sng" w="9525">
            <a:solidFill>
              <a:srgbClr val="1F263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9217152" y="731520"/>
            <a:ext cx="10972" cy="5303520"/>
          </a:xfrm>
          <a:prstGeom prst="rect">
            <a:avLst/>
          </a:prstGeom>
          <a:solidFill>
            <a:srgbClr val="1F2631"/>
          </a:solidFill>
          <a:ln cap="flat" cmpd="sng" w="9525">
            <a:solidFill>
              <a:srgbClr val="1F263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9692640" y="731520"/>
            <a:ext cx="10972" cy="5303520"/>
          </a:xfrm>
          <a:prstGeom prst="rect">
            <a:avLst/>
          </a:prstGeom>
          <a:solidFill>
            <a:srgbClr val="1F2631"/>
          </a:solidFill>
          <a:ln cap="flat" cmpd="sng" w="9525">
            <a:solidFill>
              <a:srgbClr val="1F263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10168128" y="731520"/>
            <a:ext cx="10972" cy="5303520"/>
          </a:xfrm>
          <a:prstGeom prst="rect">
            <a:avLst/>
          </a:prstGeom>
          <a:solidFill>
            <a:srgbClr val="1F2631"/>
          </a:solidFill>
          <a:ln cap="flat" cmpd="sng" w="9525">
            <a:solidFill>
              <a:srgbClr val="1F263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10643616" y="731520"/>
            <a:ext cx="10972" cy="5303520"/>
          </a:xfrm>
          <a:prstGeom prst="rect">
            <a:avLst/>
          </a:prstGeom>
          <a:solidFill>
            <a:srgbClr val="1F2631"/>
          </a:solidFill>
          <a:ln cap="flat" cmpd="sng" w="9525">
            <a:solidFill>
              <a:srgbClr val="1F263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11119104" y="731520"/>
            <a:ext cx="10972" cy="5303520"/>
          </a:xfrm>
          <a:prstGeom prst="rect">
            <a:avLst/>
          </a:prstGeom>
          <a:solidFill>
            <a:srgbClr val="1F2631"/>
          </a:solidFill>
          <a:ln cap="flat" cmpd="sng" w="9525">
            <a:solidFill>
              <a:srgbClr val="1F263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7223760" y="822960"/>
            <a:ext cx="4297680" cy="10972"/>
          </a:xfrm>
          <a:prstGeom prst="rect">
            <a:avLst/>
          </a:prstGeom>
          <a:solidFill>
            <a:srgbClr val="1F2631"/>
          </a:solidFill>
          <a:ln cap="flat" cmpd="sng" w="9525">
            <a:solidFill>
              <a:srgbClr val="1F263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7223760" y="1325880"/>
            <a:ext cx="4297680" cy="10972"/>
          </a:xfrm>
          <a:prstGeom prst="rect">
            <a:avLst/>
          </a:prstGeom>
          <a:solidFill>
            <a:srgbClr val="1F2631"/>
          </a:solidFill>
          <a:ln cap="flat" cmpd="sng" w="9525">
            <a:solidFill>
              <a:srgbClr val="1F263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7223760" y="1828800"/>
            <a:ext cx="4297680" cy="10972"/>
          </a:xfrm>
          <a:prstGeom prst="rect">
            <a:avLst/>
          </a:prstGeom>
          <a:solidFill>
            <a:srgbClr val="1F2631"/>
          </a:solidFill>
          <a:ln cap="flat" cmpd="sng" w="9525">
            <a:solidFill>
              <a:srgbClr val="1F263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7223760" y="2331720"/>
            <a:ext cx="4297680" cy="10972"/>
          </a:xfrm>
          <a:prstGeom prst="rect">
            <a:avLst/>
          </a:prstGeom>
          <a:solidFill>
            <a:srgbClr val="1F2631"/>
          </a:solidFill>
          <a:ln cap="flat" cmpd="sng" w="9525">
            <a:solidFill>
              <a:srgbClr val="1F263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7223760" y="2834640"/>
            <a:ext cx="4297680" cy="10972"/>
          </a:xfrm>
          <a:prstGeom prst="rect">
            <a:avLst/>
          </a:prstGeom>
          <a:solidFill>
            <a:srgbClr val="1F2631"/>
          </a:solidFill>
          <a:ln cap="flat" cmpd="sng" w="9525">
            <a:solidFill>
              <a:srgbClr val="1F263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7223760" y="3337560"/>
            <a:ext cx="4297680" cy="10972"/>
          </a:xfrm>
          <a:prstGeom prst="rect">
            <a:avLst/>
          </a:prstGeom>
          <a:solidFill>
            <a:srgbClr val="1F2631"/>
          </a:solidFill>
          <a:ln cap="flat" cmpd="sng" w="9525">
            <a:solidFill>
              <a:srgbClr val="1F263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7223760" y="3840480"/>
            <a:ext cx="4297680" cy="10972"/>
          </a:xfrm>
          <a:prstGeom prst="rect">
            <a:avLst/>
          </a:prstGeom>
          <a:solidFill>
            <a:srgbClr val="1F2631"/>
          </a:solidFill>
          <a:ln cap="flat" cmpd="sng" w="9525">
            <a:solidFill>
              <a:srgbClr val="1F263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7223760" y="4343400"/>
            <a:ext cx="4297680" cy="10972"/>
          </a:xfrm>
          <a:prstGeom prst="rect">
            <a:avLst/>
          </a:prstGeom>
          <a:solidFill>
            <a:srgbClr val="1F2631"/>
          </a:solidFill>
          <a:ln cap="flat" cmpd="sng" w="9525">
            <a:solidFill>
              <a:srgbClr val="1F263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7223760" y="4846320"/>
            <a:ext cx="4297680" cy="10972"/>
          </a:xfrm>
          <a:prstGeom prst="rect">
            <a:avLst/>
          </a:prstGeom>
          <a:solidFill>
            <a:srgbClr val="1F2631"/>
          </a:solidFill>
          <a:ln cap="flat" cmpd="sng" w="9525">
            <a:solidFill>
              <a:srgbClr val="1F263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7223760" y="5349240"/>
            <a:ext cx="4297680" cy="10972"/>
          </a:xfrm>
          <a:prstGeom prst="rect">
            <a:avLst/>
          </a:prstGeom>
          <a:solidFill>
            <a:srgbClr val="1F2631"/>
          </a:solidFill>
          <a:ln cap="flat" cmpd="sng" w="9525">
            <a:solidFill>
              <a:srgbClr val="1F263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658368" y="777240"/>
            <a:ext cx="82296" cy="5212080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960120" y="932688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CYBERSECURITY PROJECT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932688" y="1508760"/>
            <a:ext cx="6675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GhostRat C2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Framework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987552" y="2926080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Payload workflow • Staging • Listener configuration</a:t>
            </a:r>
            <a:endParaRPr/>
          </a:p>
        </p:txBody>
      </p:sp>
      <p:sp>
        <p:nvSpPr>
          <p:cNvPr id="108" name="Google Shape;108;p13"/>
          <p:cNvSpPr/>
          <p:nvPr/>
        </p:nvSpPr>
        <p:spPr>
          <a:xfrm>
            <a:off x="987552" y="3703320"/>
            <a:ext cx="5303520" cy="18288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987552" y="400507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987552" y="4315968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Surafel Worku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987552" y="4828032"/>
            <a:ext cx="61266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9CF9A"/>
                </a:solidFill>
                <a:latin typeface="Arial"/>
                <a:ea typeface="Arial"/>
                <a:cs typeface="Arial"/>
                <a:sym typeface="Arial"/>
              </a:rPr>
              <a:t>github.com/surafel-creater/GOST_RATc2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7589520" y="1371600"/>
            <a:ext cx="3566160" cy="347472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7589520" y="1371600"/>
            <a:ext cx="3566160" cy="384048"/>
          </a:xfrm>
          <a:prstGeom prst="roundRect">
            <a:avLst>
              <a:gd fmla="val 8000" name="adj"/>
            </a:avLst>
          </a:prstGeom>
          <a:solidFill>
            <a:srgbClr val="1F263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7818120" y="1508760"/>
            <a:ext cx="100584" cy="100584"/>
          </a:xfrm>
          <a:prstGeom prst="ellipse">
            <a:avLst/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8037576" y="1508760"/>
            <a:ext cx="100584" cy="100584"/>
          </a:xfrm>
          <a:prstGeom prst="ellipse">
            <a:avLst/>
          </a:prstGeom>
          <a:solidFill>
            <a:srgbClr val="EBB652"/>
          </a:solidFill>
          <a:ln cap="flat" cmpd="sng" w="9525">
            <a:solidFill>
              <a:srgbClr val="EBB6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8257032" y="1508760"/>
            <a:ext cx="100584" cy="100584"/>
          </a:xfrm>
          <a:prstGeom prst="ellipse">
            <a:avLst/>
          </a:prstGeom>
          <a:solidFill>
            <a:srgbClr val="69CF9A"/>
          </a:solidFill>
          <a:ln cap="flat" cmpd="sng" w="9525">
            <a:solidFill>
              <a:srgbClr val="69CF9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7882127" y="2011680"/>
            <a:ext cx="30175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CF9A"/>
                </a:solidFill>
                <a:latin typeface="Consolas"/>
                <a:ea typeface="Consolas"/>
                <a:cs typeface="Consolas"/>
                <a:sym typeface="Consolas"/>
              </a:rPr>
              <a:t>GhostRat C2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CF9A"/>
                </a:solidFill>
                <a:latin typeface="Consolas"/>
                <a:ea typeface="Consolas"/>
                <a:cs typeface="Consolas"/>
                <a:sym typeface="Consolas"/>
              </a:rPr>
              <a:t>------------------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CF9A"/>
                </a:solidFill>
                <a:latin typeface="Consolas"/>
                <a:ea typeface="Consolas"/>
                <a:cs typeface="Consolas"/>
                <a:sym typeface="Consolas"/>
              </a:rPr>
              <a:t>[+] Auto / manual setup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CF9A"/>
                </a:solidFill>
                <a:latin typeface="Consolas"/>
                <a:ea typeface="Consolas"/>
                <a:cs typeface="Consolas"/>
                <a:sym typeface="Consolas"/>
              </a:rPr>
              <a:t>[+] eth0 address detection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CF9A"/>
                </a:solidFill>
                <a:latin typeface="Consolas"/>
                <a:ea typeface="Consolas"/>
                <a:cs typeface="Consolas"/>
                <a:sym typeface="Consolas"/>
              </a:rPr>
              <a:t>[+] Default port: 4444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CF9A"/>
                </a:solidFill>
                <a:latin typeface="Consolas"/>
                <a:ea typeface="Consolas"/>
                <a:cs typeface="Consolas"/>
                <a:sym typeface="Consolas"/>
              </a:rPr>
              <a:t>[+] BAT + ZIP workflow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CF9A"/>
                </a:solidFill>
                <a:latin typeface="Consolas"/>
                <a:ea typeface="Consolas"/>
                <a:cs typeface="Consolas"/>
                <a:sym typeface="Consolas"/>
              </a:rPr>
              <a:t>[+] Listener configuration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5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/>
        </p:nvSpPr>
        <p:spPr>
          <a:xfrm>
            <a:off x="621792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01 / PROJECT SUMMARY</a:t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621792" y="621792"/>
            <a:ext cx="10927080" cy="16459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6858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713232" y="15361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A combined workflow for payload configuration, file staging, and listener setup.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777240" y="2240280"/>
            <a:ext cx="6492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GhostRat C2 Framework brings several setup and staging steps into one project workflow for use in a controlled lab.</a:t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868680" y="3675887"/>
            <a:ext cx="86868" cy="86868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1088136" y="3566160"/>
            <a:ext cx="62636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Integrates msfvenom for payload artifact generation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868680" y="4178808"/>
            <a:ext cx="86868" cy="86868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1088136" y="4069080"/>
            <a:ext cx="62636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Supports automatic and manual network configuration</a:t>
            </a: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868680" y="4681728"/>
            <a:ext cx="86868" cy="86868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1088136" y="4572000"/>
            <a:ext cx="62636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Creates a BAT file and ZIP archive</a:t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868680" y="5184648"/>
            <a:ext cx="86868" cy="86868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1088136" y="5074920"/>
            <a:ext cx="62636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Includes listener setup options</a:t>
            </a: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868680" y="5687568"/>
            <a:ext cx="86868" cy="86868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1088136" y="5577840"/>
            <a:ext cx="62636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Uses a Windows test workflow involving the Documents folder</a:t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7818120" y="2331720"/>
            <a:ext cx="3246120" cy="114300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7818120" y="2331720"/>
            <a:ext cx="64008" cy="1143000"/>
          </a:xfrm>
          <a:prstGeom prst="roundRect">
            <a:avLst>
              <a:gd fmla="val 8000" name="adj"/>
            </a:avLst>
          </a:prstGeom>
          <a:solidFill>
            <a:srgbClr val="69CF9A"/>
          </a:solidFill>
          <a:ln cap="flat" cmpd="sng" w="9525">
            <a:solidFill>
              <a:srgbClr val="69CF9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8028432" y="2487168"/>
            <a:ext cx="2852927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Project author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8028432" y="2898648"/>
            <a:ext cx="2852927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Surafel Worku</a:t>
            </a:r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7818120" y="3749039"/>
            <a:ext cx="3246120" cy="114300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7818120" y="3749039"/>
            <a:ext cx="64008" cy="1143000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8028432" y="3904487"/>
            <a:ext cx="2852927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Source profile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8028432" y="4315968"/>
            <a:ext cx="2852927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github.com/surafel-creater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5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/>
          <p:nvPr/>
        </p:nvSpPr>
        <p:spPr>
          <a:xfrm>
            <a:off x="621792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02 / MOTIVATION</a:t>
            </a: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621792" y="621792"/>
            <a:ext cx="10927080" cy="16459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6858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Motivation and goals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713232" y="15361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Why bring the steps into one framework?</a:t>
            </a:r>
            <a:endParaRPr/>
          </a:p>
        </p:txBody>
      </p:sp>
      <p:sp>
        <p:nvSpPr>
          <p:cNvPr id="157" name="Google Shape;157;p15"/>
          <p:cNvSpPr/>
          <p:nvPr/>
        </p:nvSpPr>
        <p:spPr>
          <a:xfrm>
            <a:off x="777240" y="2286000"/>
            <a:ext cx="3383280" cy="182880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777240" y="2286000"/>
            <a:ext cx="64008" cy="1828800"/>
          </a:xfrm>
          <a:prstGeom prst="roundRect">
            <a:avLst>
              <a:gd fmla="val 8000" name="adj"/>
            </a:avLst>
          </a:prstGeom>
          <a:solidFill>
            <a:srgbClr val="69CF9A"/>
          </a:solidFill>
          <a:ln cap="flat" cmpd="sng" w="9525">
            <a:solidFill>
              <a:srgbClr val="69CF9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987552" y="2441448"/>
            <a:ext cx="2990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Repeated setup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987552" y="2852928"/>
            <a:ext cx="299008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Manual selection of network values and listener settings can be repetitive.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4407408" y="2286000"/>
            <a:ext cx="3383280" cy="182880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4407408" y="2286000"/>
            <a:ext cx="64008" cy="1828800"/>
          </a:xfrm>
          <a:prstGeom prst="roundRect">
            <a:avLst>
              <a:gd fmla="val 8000" name="adj"/>
            </a:avLst>
          </a:prstGeom>
          <a:solidFill>
            <a:srgbClr val="64A0EB"/>
          </a:solidFill>
          <a:ln cap="flat" cmpd="sng" w="9525">
            <a:solidFill>
              <a:srgbClr val="64A0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4617720" y="2441448"/>
            <a:ext cx="2990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Workflow consistency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4617720" y="2852928"/>
            <a:ext cx="299008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A unified interface makes the sequence easier to document and test.</a:t>
            </a: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8028431" y="2286000"/>
            <a:ext cx="3383280" cy="182880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8028431" y="2286000"/>
            <a:ext cx="64008" cy="1828800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8238744" y="2441448"/>
            <a:ext cx="2990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Lab observation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8238744" y="2852928"/>
            <a:ext cx="299008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A controlled environment helps study execution events and defensive telemetry.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914400" y="48006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Main goal: document the implementation, validate behavior, and understand defensive implications.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5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/>
        </p:nvSpPr>
        <p:spPr>
          <a:xfrm>
            <a:off x="621792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03 / IMPLEMENTED FEATURES</a:t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621792" y="621792"/>
            <a:ext cx="10927080" cy="16459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6858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Feature inventory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713232" y="15361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Based on the implementation details supplied by the developer.</a:t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713232" y="2267712"/>
            <a:ext cx="3429000" cy="1298448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713232" y="2267712"/>
            <a:ext cx="64008" cy="1298448"/>
          </a:xfrm>
          <a:prstGeom prst="roundRect">
            <a:avLst>
              <a:gd fmla="val 8000" name="adj"/>
            </a:avLst>
          </a:prstGeom>
          <a:solidFill>
            <a:srgbClr val="69CF9A"/>
          </a:solidFill>
          <a:ln cap="flat" cmpd="sng" w="9525">
            <a:solidFill>
              <a:srgbClr val="69CF9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923544" y="2423160"/>
            <a:ext cx="3035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Payload generation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923544" y="2834640"/>
            <a:ext cx="30358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msfvenom integration for creating configured test artifacts.</a:t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4507992" y="2267712"/>
            <a:ext cx="3429000" cy="1298448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4507992" y="2267712"/>
            <a:ext cx="64008" cy="1298448"/>
          </a:xfrm>
          <a:prstGeom prst="roundRect">
            <a:avLst>
              <a:gd fmla="val 8000" name="adj"/>
            </a:avLst>
          </a:prstGeom>
          <a:solidFill>
            <a:srgbClr val="64A0EB"/>
          </a:solidFill>
          <a:ln cap="flat" cmpd="sng" w="9525">
            <a:solidFill>
              <a:srgbClr val="64A0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4718304" y="2423160"/>
            <a:ext cx="3035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Interface detection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4718304" y="2834640"/>
            <a:ext cx="30358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Detects the eth0 interface address for automatic local configuration.</a:t>
            </a:r>
            <a:endParaRPr/>
          </a:p>
        </p:txBody>
      </p:sp>
      <p:sp>
        <p:nvSpPr>
          <p:cNvPr id="188" name="Google Shape;188;p16"/>
          <p:cNvSpPr/>
          <p:nvPr/>
        </p:nvSpPr>
        <p:spPr>
          <a:xfrm>
            <a:off x="8302752" y="2267712"/>
            <a:ext cx="3429000" cy="1298448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/>
          <p:nvPr/>
        </p:nvSpPr>
        <p:spPr>
          <a:xfrm>
            <a:off x="8302752" y="2267712"/>
            <a:ext cx="64008" cy="1298448"/>
          </a:xfrm>
          <a:prstGeom prst="roundRect">
            <a:avLst>
              <a:gd fmla="val 8000" name="adj"/>
            </a:avLst>
          </a:prstGeom>
          <a:solidFill>
            <a:srgbClr val="EBB652"/>
          </a:solidFill>
          <a:ln cap="flat" cmpd="sng" w="9525">
            <a:solidFill>
              <a:srgbClr val="EBB6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8513064" y="2423160"/>
            <a:ext cx="3035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Default port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8513064" y="2834640"/>
            <a:ext cx="30358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Uses 4444 as the default LPORT setting.</a:t>
            </a:r>
            <a:endParaRPr/>
          </a:p>
        </p:txBody>
      </p:sp>
      <p:sp>
        <p:nvSpPr>
          <p:cNvPr id="192" name="Google Shape;192;p16"/>
          <p:cNvSpPr/>
          <p:nvPr/>
        </p:nvSpPr>
        <p:spPr>
          <a:xfrm>
            <a:off x="713232" y="3895344"/>
            <a:ext cx="3429000" cy="1298448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713232" y="3895344"/>
            <a:ext cx="64008" cy="1298448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923544" y="4050791"/>
            <a:ext cx="3035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Manual configuration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923544" y="4462272"/>
            <a:ext cx="30358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Allows the operator to enter LHOST and LPORT.</a:t>
            </a:r>
            <a:endParaRPr/>
          </a:p>
        </p:txBody>
      </p:sp>
      <p:sp>
        <p:nvSpPr>
          <p:cNvPr id="196" name="Google Shape;196;p16"/>
          <p:cNvSpPr/>
          <p:nvPr/>
        </p:nvSpPr>
        <p:spPr>
          <a:xfrm>
            <a:off x="4507992" y="3895344"/>
            <a:ext cx="3429000" cy="1298448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4507992" y="3895344"/>
            <a:ext cx="64008" cy="1298448"/>
          </a:xfrm>
          <a:prstGeom prst="roundRect">
            <a:avLst>
              <a:gd fmla="val 8000" name="adj"/>
            </a:avLst>
          </a:prstGeom>
          <a:solidFill>
            <a:srgbClr val="69CF9A"/>
          </a:solidFill>
          <a:ln cap="flat" cmpd="sng" w="9525">
            <a:solidFill>
              <a:srgbClr val="69CF9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 txBox="1"/>
          <p:nvPr/>
        </p:nvSpPr>
        <p:spPr>
          <a:xfrm>
            <a:off x="4718304" y="4050791"/>
            <a:ext cx="3035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BAT + ZIP output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4718304" y="4462272"/>
            <a:ext cx="30358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Creates a batch file and packages the payload in a ZIP archive.</a:t>
            </a:r>
            <a:endParaRPr/>
          </a:p>
        </p:txBody>
      </p:sp>
      <p:sp>
        <p:nvSpPr>
          <p:cNvPr id="200" name="Google Shape;200;p16"/>
          <p:cNvSpPr/>
          <p:nvPr/>
        </p:nvSpPr>
        <p:spPr>
          <a:xfrm>
            <a:off x="8302752" y="3895344"/>
            <a:ext cx="3429000" cy="1298448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8302752" y="3895344"/>
            <a:ext cx="64008" cy="1298448"/>
          </a:xfrm>
          <a:prstGeom prst="roundRect">
            <a:avLst>
              <a:gd fmla="val 8000" name="adj"/>
            </a:avLst>
          </a:prstGeom>
          <a:solidFill>
            <a:srgbClr val="64A0EB"/>
          </a:solidFill>
          <a:ln cap="flat" cmpd="sng" w="9525">
            <a:solidFill>
              <a:srgbClr val="64A0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8513064" y="4050791"/>
            <a:ext cx="3035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Listener setup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8513064" y="4462272"/>
            <a:ext cx="30358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Provides automatic and manual listener configuration.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5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"/>
          <p:cNvSpPr txBox="1"/>
          <p:nvPr/>
        </p:nvSpPr>
        <p:spPr>
          <a:xfrm>
            <a:off x="621792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04 / CONFIGURATION MODES</a:t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621792" y="621792"/>
            <a:ext cx="10927080" cy="16459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6858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Automatic vs. manual setup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713232" y="15361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The framework provides two configuration paths.</a:t>
            </a:r>
            <a:endParaRPr/>
          </a:p>
        </p:txBody>
      </p:sp>
      <p:sp>
        <p:nvSpPr>
          <p:cNvPr id="214" name="Google Shape;214;p17"/>
          <p:cNvSpPr/>
          <p:nvPr/>
        </p:nvSpPr>
        <p:spPr>
          <a:xfrm>
            <a:off x="822960" y="2331720"/>
            <a:ext cx="5029200" cy="214884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822960" y="2331720"/>
            <a:ext cx="64008" cy="2148840"/>
          </a:xfrm>
          <a:prstGeom prst="roundRect">
            <a:avLst>
              <a:gd fmla="val 8000" name="adj"/>
            </a:avLst>
          </a:prstGeom>
          <a:solidFill>
            <a:srgbClr val="69CF9A"/>
          </a:solidFill>
          <a:ln cap="flat" cmpd="sng" w="9525">
            <a:solidFill>
              <a:srgbClr val="69CF9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>
            <a:off x="1033272" y="2487168"/>
            <a:ext cx="46360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Automatic mode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1033272" y="2898648"/>
            <a:ext cx="4636008" cy="1490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• Detects the local address associated with eth0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• Uses the configured default port 4444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• Reduces repeated manual entry</a:t>
            </a:r>
            <a:endParaRPr/>
          </a:p>
        </p:txBody>
      </p:sp>
      <p:sp>
        <p:nvSpPr>
          <p:cNvPr id="218" name="Google Shape;218;p17"/>
          <p:cNvSpPr/>
          <p:nvPr/>
        </p:nvSpPr>
        <p:spPr>
          <a:xfrm>
            <a:off x="6355080" y="2331720"/>
            <a:ext cx="5029200" cy="214884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6355080" y="2331720"/>
            <a:ext cx="64008" cy="2148840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6565392" y="2487168"/>
            <a:ext cx="46360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Manual mode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6565392" y="2898648"/>
            <a:ext cx="4636008" cy="1490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• Operator enters LHOST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• Operator enters LPORT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• Useful when the lab network differs from the default setup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914400" y="49834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Validation matters: interfaces, IP addresses, port ranges, and tool availability can vary.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5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 txBox="1"/>
          <p:nvPr/>
        </p:nvSpPr>
        <p:spPr>
          <a:xfrm>
            <a:off x="621792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05 / END-TO-END WORKFLOW</a:t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621792" y="621792"/>
            <a:ext cx="10927080" cy="16459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6858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Workflow sequence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713232" y="15361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High-level sequence of the stages implemented in the project.</a:t>
            </a:r>
            <a:endParaRPr/>
          </a:p>
        </p:txBody>
      </p:sp>
      <p:sp>
        <p:nvSpPr>
          <p:cNvPr id="233" name="Google Shape;233;p18"/>
          <p:cNvSpPr/>
          <p:nvPr/>
        </p:nvSpPr>
        <p:spPr>
          <a:xfrm>
            <a:off x="530352" y="2651760"/>
            <a:ext cx="1627632" cy="1389888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658368" y="28163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658368" y="318211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Configure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658368" y="358444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Auto or manual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2194560" y="31546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2468880" y="2651760"/>
            <a:ext cx="1627632" cy="1389888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2596896" y="28163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2596896" y="318211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2596896" y="358444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msfvenom integration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4133088" y="31546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43" name="Google Shape;243;p18"/>
          <p:cNvSpPr/>
          <p:nvPr/>
        </p:nvSpPr>
        <p:spPr>
          <a:xfrm>
            <a:off x="4407408" y="2651760"/>
            <a:ext cx="1627632" cy="1389888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>
            <a:off x="4535424" y="28163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4535424" y="318211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Package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4535424" y="358444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BAT + ZIP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6071616" y="31546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6345936" y="2651760"/>
            <a:ext cx="1627632" cy="1389888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6473952" y="28163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6473952" y="318211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Stage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6473952" y="358444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Documents folder</a:t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8010144" y="31546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53" name="Google Shape;253;p18"/>
          <p:cNvSpPr/>
          <p:nvPr/>
        </p:nvSpPr>
        <p:spPr>
          <a:xfrm>
            <a:off x="8284464" y="2651760"/>
            <a:ext cx="1627632" cy="1389888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8412480" y="28163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8412480" y="318211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Execute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8412480" y="358444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User-initiated test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9948672" y="31546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58" name="Google Shape;258;p18"/>
          <p:cNvSpPr/>
          <p:nvPr/>
        </p:nvSpPr>
        <p:spPr>
          <a:xfrm>
            <a:off x="10222992" y="2651760"/>
            <a:ext cx="1627632" cy="1389888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 txBox="1"/>
          <p:nvPr/>
        </p:nvSpPr>
        <p:spPr>
          <a:xfrm>
            <a:off x="10351008" y="28163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10351008" y="318211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Listen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10351008" y="358444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LHOST / LPORT</a:t>
            </a:r>
            <a:endParaRPr/>
          </a:p>
        </p:txBody>
      </p:sp>
      <p:sp>
        <p:nvSpPr>
          <p:cNvPr id="262" name="Google Shape;262;p18"/>
          <p:cNvSpPr/>
          <p:nvPr/>
        </p:nvSpPr>
        <p:spPr>
          <a:xfrm>
            <a:off x="777240" y="4617720"/>
            <a:ext cx="10652760" cy="731520"/>
          </a:xfrm>
          <a:prstGeom prst="roundRect">
            <a:avLst>
              <a:gd fmla="val 8000" name="adj"/>
            </a:avLst>
          </a:prstGeom>
          <a:solidFill>
            <a:srgbClr val="1F263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960120" y="480060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For demonstrations, use an isolated VM and a harmless, authorized test target.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5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"/>
          <p:cNvSpPr txBox="1"/>
          <p:nvPr/>
        </p:nvSpPr>
        <p:spPr>
          <a:xfrm>
            <a:off x="621792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06 / WINDOWS STAGING WORKFLOW</a:t>
            </a:r>
            <a:endParaRPr/>
          </a:p>
        </p:txBody>
      </p:sp>
      <p:sp>
        <p:nvSpPr>
          <p:cNvPr id="270" name="Google Shape;270;p19"/>
          <p:cNvSpPr/>
          <p:nvPr/>
        </p:nvSpPr>
        <p:spPr>
          <a:xfrm>
            <a:off x="621792" y="621792"/>
            <a:ext cx="10927080" cy="16459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72" name="Google Shape;272;p19"/>
          <p:cNvSpPr txBox="1"/>
          <p:nvPr/>
        </p:nvSpPr>
        <p:spPr>
          <a:xfrm>
            <a:off x="6858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Windows-side workflow described</a:t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713232" y="15361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This slide documents the behavior you reported; it is not a setup guide.</a:t>
            </a:r>
            <a:endParaRPr/>
          </a:p>
        </p:txBody>
      </p:sp>
      <p:sp>
        <p:nvSpPr>
          <p:cNvPr id="274" name="Google Shape;274;p19"/>
          <p:cNvSpPr/>
          <p:nvPr/>
        </p:nvSpPr>
        <p:spPr>
          <a:xfrm>
            <a:off x="868680" y="2057400"/>
            <a:ext cx="502920" cy="502920"/>
          </a:xfrm>
          <a:prstGeom prst="roundRect">
            <a:avLst>
              <a:gd fmla="val 8000" name="adj"/>
            </a:avLst>
          </a:prstGeom>
          <a:solidFill>
            <a:srgbClr val="1F263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868680" y="214884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1600200" y="207568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USB inserted</a:t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3749039" y="2075688"/>
            <a:ext cx="7040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The user opens the BAT file manually.</a:t>
            </a:r>
            <a:endParaRPr/>
          </a:p>
        </p:txBody>
      </p:sp>
      <p:sp>
        <p:nvSpPr>
          <p:cNvPr id="278" name="Google Shape;278;p19"/>
          <p:cNvSpPr/>
          <p:nvPr/>
        </p:nvSpPr>
        <p:spPr>
          <a:xfrm>
            <a:off x="1110996" y="2569464"/>
            <a:ext cx="16459" cy="22860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868680" y="2807208"/>
            <a:ext cx="502920" cy="502920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 txBox="1"/>
          <p:nvPr/>
        </p:nvSpPr>
        <p:spPr>
          <a:xfrm>
            <a:off x="868680" y="289864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81" name="Google Shape;281;p19"/>
          <p:cNvSpPr txBox="1"/>
          <p:nvPr/>
        </p:nvSpPr>
        <p:spPr>
          <a:xfrm>
            <a:off x="1600200" y="282549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CMD actions</a:t>
            </a:r>
            <a:endParaRPr/>
          </a:p>
        </p:txBody>
      </p:sp>
      <p:sp>
        <p:nvSpPr>
          <p:cNvPr id="282" name="Google Shape;282;p19"/>
          <p:cNvSpPr txBox="1"/>
          <p:nvPr/>
        </p:nvSpPr>
        <p:spPr>
          <a:xfrm>
            <a:off x="3749039" y="2825496"/>
            <a:ext cx="7040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The script attempts to configure a Defender exclusion.</a:t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1110996" y="3319272"/>
            <a:ext cx="16459" cy="22860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868680" y="3557015"/>
            <a:ext cx="502920" cy="502920"/>
          </a:xfrm>
          <a:prstGeom prst="roundRect">
            <a:avLst>
              <a:gd fmla="val 8000" name="adj"/>
            </a:avLst>
          </a:prstGeom>
          <a:solidFill>
            <a:srgbClr val="1F263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868680" y="364845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1600200" y="3575303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File staging</a:t>
            </a:r>
            <a:endParaRPr/>
          </a:p>
        </p:txBody>
      </p:sp>
      <p:sp>
        <p:nvSpPr>
          <p:cNvPr id="287" name="Google Shape;287;p19"/>
          <p:cNvSpPr txBox="1"/>
          <p:nvPr/>
        </p:nvSpPr>
        <p:spPr>
          <a:xfrm>
            <a:off x="3749039" y="3575303"/>
            <a:ext cx="7040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The ZIP is copied to the user's Documents folder.</a:t>
            </a:r>
            <a:endParaRPr/>
          </a:p>
        </p:txBody>
      </p:sp>
      <p:sp>
        <p:nvSpPr>
          <p:cNvPr id="288" name="Google Shape;288;p19"/>
          <p:cNvSpPr/>
          <p:nvPr/>
        </p:nvSpPr>
        <p:spPr>
          <a:xfrm>
            <a:off x="1110996" y="4069079"/>
            <a:ext cx="16459" cy="22860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868680" y="4306824"/>
            <a:ext cx="502920" cy="502920"/>
          </a:xfrm>
          <a:prstGeom prst="roundRect">
            <a:avLst>
              <a:gd fmla="val 8000" name="adj"/>
            </a:avLst>
          </a:prstGeom>
          <a:solidFill>
            <a:srgbClr val="1F263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 txBox="1"/>
          <p:nvPr/>
        </p:nvSpPr>
        <p:spPr>
          <a:xfrm>
            <a:off x="868680" y="4398264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1600200" y="432511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Extraction</a:t>
            </a:r>
            <a:endParaRPr/>
          </a:p>
        </p:txBody>
      </p:sp>
      <p:sp>
        <p:nvSpPr>
          <p:cNvPr id="292" name="Google Shape;292;p19"/>
          <p:cNvSpPr txBox="1"/>
          <p:nvPr/>
        </p:nvSpPr>
        <p:spPr>
          <a:xfrm>
            <a:off x="3749039" y="4325112"/>
            <a:ext cx="7040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The archive is extracted in the destination folder.</a:t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1110996" y="4818888"/>
            <a:ext cx="16459" cy="22860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/>
          <p:nvPr/>
        </p:nvSpPr>
        <p:spPr>
          <a:xfrm>
            <a:off x="868680" y="5056631"/>
            <a:ext cx="502920" cy="502920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 txBox="1"/>
          <p:nvPr/>
        </p:nvSpPr>
        <p:spPr>
          <a:xfrm>
            <a:off x="868680" y="5148071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1600200" y="5074919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Payload launch</a:t>
            </a:r>
            <a:endParaRPr/>
          </a:p>
        </p:txBody>
      </p:sp>
      <p:sp>
        <p:nvSpPr>
          <p:cNvPr id="297" name="Google Shape;297;p19"/>
          <p:cNvSpPr txBox="1"/>
          <p:nvPr/>
        </p:nvSpPr>
        <p:spPr>
          <a:xfrm>
            <a:off x="3749039" y="5074919"/>
            <a:ext cx="7040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The extracted program is started in the test workflow.</a:t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1600200" y="5897880"/>
            <a:ext cx="8961120" cy="347472"/>
          </a:xfrm>
          <a:prstGeom prst="roundRect">
            <a:avLst>
              <a:gd fmla="val 8000" name="adj"/>
            </a:avLst>
          </a:prstGeom>
          <a:solidFill>
            <a:srgbClr val="1F263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 txBox="1"/>
          <p:nvPr/>
        </p:nvSpPr>
        <p:spPr>
          <a:xfrm>
            <a:off x="1737360" y="5934456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BB652"/>
                </a:solidFill>
                <a:latin typeface="Arial"/>
                <a:ea typeface="Arial"/>
                <a:cs typeface="Arial"/>
                <a:sym typeface="Arial"/>
              </a:rPr>
              <a:t>Important: treat Defender exclusion changes as a security-control modification, not proof of a complete bypass.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5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"/>
          <p:cNvSpPr txBox="1"/>
          <p:nvPr/>
        </p:nvSpPr>
        <p:spPr>
          <a:xfrm>
            <a:off x="621792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07 / USB DELIVERY</a:t>
            </a:r>
            <a:endParaRPr/>
          </a:p>
        </p:txBody>
      </p:sp>
      <p:sp>
        <p:nvSpPr>
          <p:cNvPr id="306" name="Google Shape;306;p20"/>
          <p:cNvSpPr/>
          <p:nvPr/>
        </p:nvSpPr>
        <p:spPr>
          <a:xfrm>
            <a:off x="621792" y="621792"/>
            <a:ext cx="10927080" cy="16459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308" name="Google Shape;308;p20"/>
          <p:cNvSpPr txBox="1"/>
          <p:nvPr/>
        </p:nvSpPr>
        <p:spPr>
          <a:xfrm>
            <a:off x="6858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USB delivery and user interaction</a:t>
            </a:r>
            <a:endParaRPr/>
          </a:p>
        </p:txBody>
      </p:sp>
      <p:sp>
        <p:nvSpPr>
          <p:cNvPr id="309" name="Google Shape;309;p20"/>
          <p:cNvSpPr txBox="1"/>
          <p:nvPr/>
        </p:nvSpPr>
        <p:spPr>
          <a:xfrm>
            <a:off x="731532" y="1531617"/>
            <a:ext cx="106986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6B0BF"/>
                </a:solidFill>
              </a:rPr>
              <a:t>Automated execution workflow using removable media simulation.</a:t>
            </a:r>
            <a:endParaRPr/>
          </a:p>
        </p:txBody>
      </p:sp>
      <p:sp>
        <p:nvSpPr>
          <p:cNvPr id="310" name="Google Shape;310;p20"/>
          <p:cNvSpPr/>
          <p:nvPr/>
        </p:nvSpPr>
        <p:spPr>
          <a:xfrm>
            <a:off x="822960" y="2377440"/>
            <a:ext cx="4983480" cy="201168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822960" y="2377440"/>
            <a:ext cx="64008" cy="2011680"/>
          </a:xfrm>
          <a:prstGeom prst="roundRect">
            <a:avLst>
              <a:gd fmla="val 8000" name="adj"/>
            </a:avLst>
          </a:prstGeom>
          <a:solidFill>
            <a:srgbClr val="69CF9A"/>
          </a:solidFill>
          <a:ln cap="flat" cmpd="sng" w="9525">
            <a:solidFill>
              <a:srgbClr val="69CF9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 txBox="1"/>
          <p:nvPr/>
        </p:nvSpPr>
        <p:spPr>
          <a:xfrm>
            <a:off x="1033272" y="2532888"/>
            <a:ext cx="4590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Implemented behavior reported</a:t>
            </a:r>
            <a:endParaRPr/>
          </a:p>
        </p:txBody>
      </p:sp>
      <p:sp>
        <p:nvSpPr>
          <p:cNvPr id="313" name="Google Shape;313;p20"/>
          <p:cNvSpPr txBox="1"/>
          <p:nvPr/>
        </p:nvSpPr>
        <p:spPr>
          <a:xfrm>
            <a:off x="1033272" y="2944368"/>
            <a:ext cx="4590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6B0BF"/>
                </a:solidFill>
              </a:rPr>
              <a:t>Automated trigger configuration: The USB utilizes an auto-run staging mechanism to initiate the script upon insertion in the lab test environment.</a:t>
            </a:r>
            <a:endParaRPr/>
          </a:p>
        </p:txBody>
      </p:sp>
      <p:sp>
        <p:nvSpPr>
          <p:cNvPr id="314" name="Google Shape;314;p20"/>
          <p:cNvSpPr/>
          <p:nvPr/>
        </p:nvSpPr>
        <p:spPr>
          <a:xfrm>
            <a:off x="6355080" y="2377440"/>
            <a:ext cx="4983480" cy="201168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6355080" y="2377440"/>
            <a:ext cx="64008" cy="2011680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6565392" y="2532888"/>
            <a:ext cx="4590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Technical distinction</a:t>
            </a:r>
            <a:endParaRPr/>
          </a:p>
        </p:txBody>
      </p:sp>
      <p:sp>
        <p:nvSpPr>
          <p:cNvPr id="317" name="Google Shape;317;p20"/>
          <p:cNvSpPr txBox="1"/>
          <p:nvPr/>
        </p:nvSpPr>
        <p:spPr>
          <a:xfrm>
            <a:off x="6565392" y="2944368"/>
            <a:ext cx="4590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6B0BF"/>
                </a:solidFill>
              </a:rPr>
              <a:t>Environmental scope: Analyzes how automated execution triggers interact with endpoint security controls and removable media policies.</a:t>
            </a:r>
            <a:endParaRPr/>
          </a:p>
        </p:txBody>
      </p:sp>
      <p:sp>
        <p:nvSpPr>
          <p:cNvPr id="318" name="Google Shape;318;p20"/>
          <p:cNvSpPr txBox="1"/>
          <p:nvPr/>
        </p:nvSpPr>
        <p:spPr>
          <a:xfrm>
            <a:off x="914400" y="4892040"/>
            <a:ext cx="101499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1F3F7"/>
                </a:solidFill>
              </a:rPr>
              <a:t>Presentation wording: “Automated USB-assisted execution under controlled lab conditions.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5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"/>
          <p:cNvSpPr txBox="1"/>
          <p:nvPr/>
        </p:nvSpPr>
        <p:spPr>
          <a:xfrm>
            <a:off x="621792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08 / LISTENER CONFIGURATION</a:t>
            </a:r>
            <a:endParaRPr/>
          </a:p>
        </p:txBody>
      </p:sp>
      <p:sp>
        <p:nvSpPr>
          <p:cNvPr id="325" name="Google Shape;325;p21"/>
          <p:cNvSpPr/>
          <p:nvPr/>
        </p:nvSpPr>
        <p:spPr>
          <a:xfrm>
            <a:off x="621792" y="621792"/>
            <a:ext cx="10927080" cy="16459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327" name="Google Shape;327;p21"/>
          <p:cNvSpPr txBox="1"/>
          <p:nvPr/>
        </p:nvSpPr>
        <p:spPr>
          <a:xfrm>
            <a:off x="6858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Listener setup</a:t>
            </a:r>
            <a:endParaRPr/>
          </a:p>
        </p:txBody>
      </p:sp>
      <p:sp>
        <p:nvSpPr>
          <p:cNvPr id="328" name="Google Shape;328;p21"/>
          <p:cNvSpPr txBox="1"/>
          <p:nvPr/>
        </p:nvSpPr>
        <p:spPr>
          <a:xfrm>
            <a:off x="713232" y="15361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The framework includes automatic and manual listener configuration.</a:t>
            </a:r>
            <a:endParaRPr/>
          </a:p>
        </p:txBody>
      </p:sp>
      <p:sp>
        <p:nvSpPr>
          <p:cNvPr id="329" name="Google Shape;329;p21"/>
          <p:cNvSpPr/>
          <p:nvPr/>
        </p:nvSpPr>
        <p:spPr>
          <a:xfrm>
            <a:off x="822960" y="2377440"/>
            <a:ext cx="3383280" cy="164592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822960" y="2377440"/>
            <a:ext cx="64008" cy="1645920"/>
          </a:xfrm>
          <a:prstGeom prst="roundRect">
            <a:avLst>
              <a:gd fmla="val 8000" name="adj"/>
            </a:avLst>
          </a:prstGeom>
          <a:solidFill>
            <a:srgbClr val="69CF9A"/>
          </a:solidFill>
          <a:ln cap="flat" cmpd="sng" w="9525">
            <a:solidFill>
              <a:srgbClr val="69CF9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1033272" y="2532888"/>
            <a:ext cx="2990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Automatic setup</a:t>
            </a:r>
            <a:endParaRPr/>
          </a:p>
        </p:txBody>
      </p:sp>
      <p:sp>
        <p:nvSpPr>
          <p:cNvPr id="332" name="Google Shape;332;p21"/>
          <p:cNvSpPr txBox="1"/>
          <p:nvPr/>
        </p:nvSpPr>
        <p:spPr>
          <a:xfrm>
            <a:off x="1033272" y="2944368"/>
            <a:ext cx="2990088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Uses detected/configured values for the selected lab environment.</a:t>
            </a:r>
            <a:endParaRPr/>
          </a:p>
        </p:txBody>
      </p:sp>
      <p:sp>
        <p:nvSpPr>
          <p:cNvPr id="333" name="Google Shape;333;p21"/>
          <p:cNvSpPr/>
          <p:nvPr/>
        </p:nvSpPr>
        <p:spPr>
          <a:xfrm>
            <a:off x="4407408" y="2377440"/>
            <a:ext cx="3383280" cy="164592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4407408" y="2377440"/>
            <a:ext cx="64008" cy="1645920"/>
          </a:xfrm>
          <a:prstGeom prst="roundRect">
            <a:avLst>
              <a:gd fmla="val 8000" name="adj"/>
            </a:avLst>
          </a:prstGeom>
          <a:solidFill>
            <a:srgbClr val="64A0EB"/>
          </a:solidFill>
          <a:ln cap="flat" cmpd="sng" w="9525">
            <a:solidFill>
              <a:srgbClr val="64A0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4617720" y="2532888"/>
            <a:ext cx="2990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Manual setup</a:t>
            </a:r>
            <a:endParaRPr/>
          </a:p>
        </p:txBody>
      </p:sp>
      <p:sp>
        <p:nvSpPr>
          <p:cNvPr id="336" name="Google Shape;336;p21"/>
          <p:cNvSpPr txBox="1"/>
          <p:nvPr/>
        </p:nvSpPr>
        <p:spPr>
          <a:xfrm>
            <a:off x="4617720" y="2944368"/>
            <a:ext cx="2990088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Allows LHOST and LPORT to be supplied explicitly.</a:t>
            </a:r>
            <a:endParaRPr/>
          </a:p>
        </p:txBody>
      </p:sp>
      <p:sp>
        <p:nvSpPr>
          <p:cNvPr id="337" name="Google Shape;337;p21"/>
          <p:cNvSpPr/>
          <p:nvPr/>
        </p:nvSpPr>
        <p:spPr>
          <a:xfrm>
            <a:off x="8001000" y="2377440"/>
            <a:ext cx="3383280" cy="164592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8001000" y="2377440"/>
            <a:ext cx="64008" cy="1645920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8211312" y="2532888"/>
            <a:ext cx="2990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Default port</a:t>
            </a:r>
            <a:endParaRPr/>
          </a:p>
        </p:txBody>
      </p:sp>
      <p:sp>
        <p:nvSpPr>
          <p:cNvPr id="340" name="Google Shape;340;p21"/>
          <p:cNvSpPr txBox="1"/>
          <p:nvPr/>
        </p:nvSpPr>
        <p:spPr>
          <a:xfrm>
            <a:off x="8211312" y="2944368"/>
            <a:ext cx="2990088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4444 is the default; availability depends on the host and network.</a:t>
            </a:r>
            <a:endParaRPr/>
          </a:p>
        </p:txBody>
      </p:sp>
      <p:sp>
        <p:nvSpPr>
          <p:cNvPr id="341" name="Google Shape;341;p21"/>
          <p:cNvSpPr txBox="1"/>
          <p:nvPr/>
        </p:nvSpPr>
        <p:spPr>
          <a:xfrm>
            <a:off x="960120" y="4663440"/>
            <a:ext cx="10149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Useful test evidence: startup messages, bind errors, connection logs, and clean shutdown behavior.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5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2"/>
          <p:cNvSpPr txBox="1"/>
          <p:nvPr/>
        </p:nvSpPr>
        <p:spPr>
          <a:xfrm>
            <a:off x="621792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09 / ARCHITECTURE</a:t>
            </a:r>
            <a:endParaRPr/>
          </a:p>
        </p:txBody>
      </p:sp>
      <p:sp>
        <p:nvSpPr>
          <p:cNvPr id="348" name="Google Shape;348;p22"/>
          <p:cNvSpPr/>
          <p:nvPr/>
        </p:nvSpPr>
        <p:spPr>
          <a:xfrm>
            <a:off x="621792" y="621792"/>
            <a:ext cx="10927080" cy="16459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6858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Logical architecture</a:t>
            </a:r>
            <a:endParaRPr/>
          </a:p>
        </p:txBody>
      </p:sp>
      <p:sp>
        <p:nvSpPr>
          <p:cNvPr id="351" name="Google Shape;351;p22"/>
          <p:cNvSpPr txBox="1"/>
          <p:nvPr/>
        </p:nvSpPr>
        <p:spPr>
          <a:xfrm>
            <a:off x="713232" y="15361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Conceptual modules; adjust labels if your code is structured differently.</a:t>
            </a:r>
            <a:endParaRPr/>
          </a:p>
        </p:txBody>
      </p:sp>
      <p:sp>
        <p:nvSpPr>
          <p:cNvPr id="352" name="Google Shape;352;p22"/>
          <p:cNvSpPr/>
          <p:nvPr/>
        </p:nvSpPr>
        <p:spPr>
          <a:xfrm>
            <a:off x="594360" y="2743200"/>
            <a:ext cx="2057400" cy="123444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713232" y="2926080"/>
            <a:ext cx="18196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CLI / menu</a:t>
            </a:r>
            <a:endParaRPr/>
          </a:p>
        </p:txBody>
      </p:sp>
      <p:sp>
        <p:nvSpPr>
          <p:cNvPr id="354" name="Google Shape;354;p22"/>
          <p:cNvSpPr txBox="1"/>
          <p:nvPr/>
        </p:nvSpPr>
        <p:spPr>
          <a:xfrm>
            <a:off x="713232" y="3346704"/>
            <a:ext cx="18196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Operator choices</a:t>
            </a:r>
            <a:endParaRPr/>
          </a:p>
        </p:txBody>
      </p:sp>
      <p:sp>
        <p:nvSpPr>
          <p:cNvPr id="355" name="Google Shape;355;p22"/>
          <p:cNvSpPr/>
          <p:nvPr/>
        </p:nvSpPr>
        <p:spPr>
          <a:xfrm>
            <a:off x="2788920" y="2743200"/>
            <a:ext cx="2057400" cy="123444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>
            <a:off x="2907791" y="2926080"/>
            <a:ext cx="18196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Config logic</a:t>
            </a:r>
            <a:endParaRPr/>
          </a:p>
        </p:txBody>
      </p:sp>
      <p:sp>
        <p:nvSpPr>
          <p:cNvPr id="357" name="Google Shape;357;p22"/>
          <p:cNvSpPr txBox="1"/>
          <p:nvPr/>
        </p:nvSpPr>
        <p:spPr>
          <a:xfrm>
            <a:off x="2907791" y="3346704"/>
            <a:ext cx="18196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eth0 / LHOST / LPORT</a:t>
            </a:r>
            <a:endParaRPr/>
          </a:p>
        </p:txBody>
      </p:sp>
      <p:sp>
        <p:nvSpPr>
          <p:cNvPr id="358" name="Google Shape;358;p22"/>
          <p:cNvSpPr/>
          <p:nvPr/>
        </p:nvSpPr>
        <p:spPr>
          <a:xfrm>
            <a:off x="4983480" y="2743200"/>
            <a:ext cx="2057400" cy="123444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5102352" y="2926080"/>
            <a:ext cx="18196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Generation</a:t>
            </a:r>
            <a:endParaRPr/>
          </a:p>
        </p:txBody>
      </p:sp>
      <p:sp>
        <p:nvSpPr>
          <p:cNvPr id="360" name="Google Shape;360;p22"/>
          <p:cNvSpPr txBox="1"/>
          <p:nvPr/>
        </p:nvSpPr>
        <p:spPr>
          <a:xfrm>
            <a:off x="5102352" y="3346704"/>
            <a:ext cx="18196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msfvenom integration</a:t>
            </a:r>
            <a:endParaRPr/>
          </a:p>
        </p:txBody>
      </p:sp>
      <p:sp>
        <p:nvSpPr>
          <p:cNvPr id="361" name="Google Shape;361;p22"/>
          <p:cNvSpPr/>
          <p:nvPr/>
        </p:nvSpPr>
        <p:spPr>
          <a:xfrm>
            <a:off x="7178040" y="2743200"/>
            <a:ext cx="2057400" cy="123444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7296912" y="2926080"/>
            <a:ext cx="18196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Staging</a:t>
            </a:r>
            <a:endParaRPr/>
          </a:p>
        </p:txBody>
      </p:sp>
      <p:sp>
        <p:nvSpPr>
          <p:cNvPr id="363" name="Google Shape;363;p22"/>
          <p:cNvSpPr txBox="1"/>
          <p:nvPr/>
        </p:nvSpPr>
        <p:spPr>
          <a:xfrm>
            <a:off x="7296912" y="3346704"/>
            <a:ext cx="18196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BAT / ZIP / Documents</a:t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>
            <a:off x="9372600" y="2743200"/>
            <a:ext cx="2194560" cy="123444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9491472" y="2926080"/>
            <a:ext cx="19568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Listener</a:t>
            </a:r>
            <a:endParaRPr/>
          </a:p>
        </p:txBody>
      </p:sp>
      <p:sp>
        <p:nvSpPr>
          <p:cNvPr id="366" name="Google Shape;366;p22"/>
          <p:cNvSpPr txBox="1"/>
          <p:nvPr/>
        </p:nvSpPr>
        <p:spPr>
          <a:xfrm>
            <a:off x="9491472" y="3346704"/>
            <a:ext cx="19568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Connection monitoring</a:t>
            </a:r>
            <a:endParaRPr/>
          </a:p>
        </p:txBody>
      </p:sp>
      <p:sp>
        <p:nvSpPr>
          <p:cNvPr id="367" name="Google Shape;367;p22"/>
          <p:cNvSpPr txBox="1"/>
          <p:nvPr/>
        </p:nvSpPr>
        <p:spPr>
          <a:xfrm>
            <a:off x="2642616" y="3127248"/>
            <a:ext cx="164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368" name="Google Shape;368;p22"/>
          <p:cNvSpPr txBox="1"/>
          <p:nvPr/>
        </p:nvSpPr>
        <p:spPr>
          <a:xfrm>
            <a:off x="4837176" y="3127248"/>
            <a:ext cx="164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369" name="Google Shape;369;p22"/>
          <p:cNvSpPr txBox="1"/>
          <p:nvPr/>
        </p:nvSpPr>
        <p:spPr>
          <a:xfrm>
            <a:off x="7031736" y="3127248"/>
            <a:ext cx="164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370" name="Google Shape;370;p22"/>
          <p:cNvSpPr txBox="1"/>
          <p:nvPr/>
        </p:nvSpPr>
        <p:spPr>
          <a:xfrm>
            <a:off x="9226296" y="3127248"/>
            <a:ext cx="164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371" name="Google Shape;371;p22"/>
          <p:cNvSpPr txBox="1"/>
          <p:nvPr/>
        </p:nvSpPr>
        <p:spPr>
          <a:xfrm>
            <a:off x="868680" y="48920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9CF9A"/>
                </a:solidFill>
                <a:latin typeface="Arial"/>
                <a:ea typeface="Arial"/>
                <a:cs typeface="Arial"/>
                <a:sym typeface="Arial"/>
              </a:rPr>
              <a:t>Cross-cutting concerns: input validation • logging • error handling • safe artifact storage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5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"/>
          <p:cNvSpPr txBox="1"/>
          <p:nvPr/>
        </p:nvSpPr>
        <p:spPr>
          <a:xfrm>
            <a:off x="621792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10 / DEFENSIVE ANALYSIS</a:t>
            </a:r>
            <a:endParaRPr/>
          </a:p>
        </p:txBody>
      </p:sp>
      <p:sp>
        <p:nvSpPr>
          <p:cNvPr id="378" name="Google Shape;378;p23"/>
          <p:cNvSpPr/>
          <p:nvPr/>
        </p:nvSpPr>
        <p:spPr>
          <a:xfrm>
            <a:off x="621792" y="621792"/>
            <a:ext cx="10927080" cy="16459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3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380" name="Google Shape;380;p23"/>
          <p:cNvSpPr txBox="1"/>
          <p:nvPr/>
        </p:nvSpPr>
        <p:spPr>
          <a:xfrm>
            <a:off x="6858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Security implications and defender visibility</a:t>
            </a:r>
            <a:endParaRPr/>
          </a:p>
        </p:txBody>
      </p:sp>
      <p:sp>
        <p:nvSpPr>
          <p:cNvPr id="381" name="Google Shape;381;p23"/>
          <p:cNvSpPr txBox="1"/>
          <p:nvPr/>
        </p:nvSpPr>
        <p:spPr>
          <a:xfrm>
            <a:off x="713232" y="15361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What this workflow can teach in a blue-team lab.</a:t>
            </a: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822960" y="2029968"/>
            <a:ext cx="82296" cy="438912"/>
          </a:xfrm>
          <a:prstGeom prst="roundRect">
            <a:avLst>
              <a:gd fmla="val 8000" name="adj"/>
            </a:avLst>
          </a:prstGeom>
          <a:solidFill>
            <a:srgbClr val="64A0EB"/>
          </a:solidFill>
          <a:ln cap="flat" cmpd="sng" w="9525">
            <a:solidFill>
              <a:srgbClr val="64A0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3"/>
          <p:cNvSpPr txBox="1"/>
          <p:nvPr/>
        </p:nvSpPr>
        <p:spPr>
          <a:xfrm>
            <a:off x="1097280" y="204825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PowerShell / CMD activity</a:t>
            </a:r>
            <a:endParaRPr/>
          </a:p>
        </p:txBody>
      </p:sp>
      <p:sp>
        <p:nvSpPr>
          <p:cNvPr id="384" name="Google Shape;384;p23"/>
          <p:cNvSpPr txBox="1"/>
          <p:nvPr/>
        </p:nvSpPr>
        <p:spPr>
          <a:xfrm>
            <a:off x="4069080" y="2048256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Review process creation and command-line telemetry.</a:t>
            </a:r>
            <a:endParaRPr/>
          </a:p>
        </p:txBody>
      </p:sp>
      <p:sp>
        <p:nvSpPr>
          <p:cNvPr id="385" name="Google Shape;385;p23"/>
          <p:cNvSpPr/>
          <p:nvPr/>
        </p:nvSpPr>
        <p:spPr>
          <a:xfrm>
            <a:off x="822960" y="2743200"/>
            <a:ext cx="82296" cy="438912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 txBox="1"/>
          <p:nvPr/>
        </p:nvSpPr>
        <p:spPr>
          <a:xfrm>
            <a:off x="1097280" y="276148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Defender configuration changes</a:t>
            </a:r>
            <a:endParaRPr/>
          </a:p>
        </p:txBody>
      </p:sp>
      <p:sp>
        <p:nvSpPr>
          <p:cNvPr id="387" name="Google Shape;387;p23"/>
          <p:cNvSpPr txBox="1"/>
          <p:nvPr/>
        </p:nvSpPr>
        <p:spPr>
          <a:xfrm>
            <a:off x="4069080" y="2761488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Monitor security settings and exclusion changes.</a:t>
            </a:r>
            <a:endParaRPr/>
          </a:p>
        </p:txBody>
      </p:sp>
      <p:sp>
        <p:nvSpPr>
          <p:cNvPr id="388" name="Google Shape;388;p23"/>
          <p:cNvSpPr/>
          <p:nvPr/>
        </p:nvSpPr>
        <p:spPr>
          <a:xfrm>
            <a:off x="822960" y="3456432"/>
            <a:ext cx="82296" cy="438912"/>
          </a:xfrm>
          <a:prstGeom prst="roundRect">
            <a:avLst>
              <a:gd fmla="val 8000" name="adj"/>
            </a:avLst>
          </a:prstGeom>
          <a:solidFill>
            <a:srgbClr val="64A0EB"/>
          </a:solidFill>
          <a:ln cap="flat" cmpd="sng" w="9525">
            <a:solidFill>
              <a:srgbClr val="64A0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3"/>
          <p:cNvSpPr txBox="1"/>
          <p:nvPr/>
        </p:nvSpPr>
        <p:spPr>
          <a:xfrm>
            <a:off x="1097280" y="34747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File staging</a:t>
            </a:r>
            <a:endParaRPr/>
          </a:p>
        </p:txBody>
      </p:sp>
      <p:sp>
        <p:nvSpPr>
          <p:cNvPr id="390" name="Google Shape;390;p23"/>
          <p:cNvSpPr txBox="1"/>
          <p:nvPr/>
        </p:nvSpPr>
        <p:spPr>
          <a:xfrm>
            <a:off x="4069080" y="347472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Watch archive creation, extraction, and unusual files in user folders.</a:t>
            </a:r>
            <a:endParaRPr/>
          </a:p>
        </p:txBody>
      </p:sp>
      <p:sp>
        <p:nvSpPr>
          <p:cNvPr id="391" name="Google Shape;391;p23"/>
          <p:cNvSpPr/>
          <p:nvPr/>
        </p:nvSpPr>
        <p:spPr>
          <a:xfrm>
            <a:off x="822960" y="4169664"/>
            <a:ext cx="82296" cy="438912"/>
          </a:xfrm>
          <a:prstGeom prst="roundRect">
            <a:avLst>
              <a:gd fmla="val 8000" name="adj"/>
            </a:avLst>
          </a:prstGeom>
          <a:solidFill>
            <a:srgbClr val="64A0EB"/>
          </a:solidFill>
          <a:ln cap="flat" cmpd="sng" w="9525">
            <a:solidFill>
              <a:srgbClr val="64A0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3"/>
          <p:cNvSpPr txBox="1"/>
          <p:nvPr/>
        </p:nvSpPr>
        <p:spPr>
          <a:xfrm>
            <a:off x="1097280" y="418795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Execution chain</a:t>
            </a:r>
            <a:endParaRPr/>
          </a:p>
        </p:txBody>
      </p:sp>
      <p:sp>
        <p:nvSpPr>
          <p:cNvPr id="393" name="Google Shape;393;p23"/>
          <p:cNvSpPr txBox="1"/>
          <p:nvPr/>
        </p:nvSpPr>
        <p:spPr>
          <a:xfrm>
            <a:off x="4069080" y="4187952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Correlate USB activity, batch execution, and child processes.</a:t>
            </a:r>
            <a:endParaRPr/>
          </a:p>
        </p:txBody>
      </p:sp>
      <p:sp>
        <p:nvSpPr>
          <p:cNvPr id="394" name="Google Shape;394;p23"/>
          <p:cNvSpPr/>
          <p:nvPr/>
        </p:nvSpPr>
        <p:spPr>
          <a:xfrm>
            <a:off x="822960" y="4882896"/>
            <a:ext cx="82296" cy="438912"/>
          </a:xfrm>
          <a:prstGeom prst="roundRect">
            <a:avLst>
              <a:gd fmla="val 8000" name="adj"/>
            </a:avLst>
          </a:prstGeom>
          <a:solidFill>
            <a:srgbClr val="64A0EB"/>
          </a:solidFill>
          <a:ln cap="flat" cmpd="sng" w="9525">
            <a:solidFill>
              <a:srgbClr val="64A0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 txBox="1"/>
          <p:nvPr/>
        </p:nvSpPr>
        <p:spPr>
          <a:xfrm>
            <a:off x="1097280" y="4901183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Network behavior</a:t>
            </a:r>
            <a:endParaRPr/>
          </a:p>
        </p:txBody>
      </p:sp>
      <p:sp>
        <p:nvSpPr>
          <p:cNvPr id="396" name="Google Shape;396;p23"/>
          <p:cNvSpPr txBox="1"/>
          <p:nvPr/>
        </p:nvSpPr>
        <p:spPr>
          <a:xfrm>
            <a:off x="4069080" y="4901183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Inspect unexpected outbound connections and listener activity.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5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4"/>
          <p:cNvSpPr txBox="1"/>
          <p:nvPr/>
        </p:nvSpPr>
        <p:spPr>
          <a:xfrm>
            <a:off x="621792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11 / TESTING AND RESULTS</a:t>
            </a:r>
            <a:endParaRPr/>
          </a:p>
        </p:txBody>
      </p:sp>
      <p:sp>
        <p:nvSpPr>
          <p:cNvPr id="403" name="Google Shape;403;p24"/>
          <p:cNvSpPr/>
          <p:nvPr/>
        </p:nvSpPr>
        <p:spPr>
          <a:xfrm>
            <a:off x="621792" y="621792"/>
            <a:ext cx="10927080" cy="16459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4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405" name="Google Shape;405;p24"/>
          <p:cNvSpPr txBox="1"/>
          <p:nvPr/>
        </p:nvSpPr>
        <p:spPr>
          <a:xfrm>
            <a:off x="6858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Validation plan and evidence</a:t>
            </a:r>
            <a:endParaRPr/>
          </a:p>
        </p:txBody>
      </p:sp>
      <p:sp>
        <p:nvSpPr>
          <p:cNvPr id="406" name="Google Shape;406;p24"/>
          <p:cNvSpPr txBox="1"/>
          <p:nvPr/>
        </p:nvSpPr>
        <p:spPr>
          <a:xfrm>
            <a:off x="713232" y="15361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Fill in the actual outcomes from your own tests.</a:t>
            </a:r>
            <a:endParaRPr/>
          </a:p>
        </p:txBody>
      </p:sp>
      <p:sp>
        <p:nvSpPr>
          <p:cNvPr id="407" name="Google Shape;407;p24"/>
          <p:cNvSpPr/>
          <p:nvPr/>
        </p:nvSpPr>
        <p:spPr>
          <a:xfrm>
            <a:off x="777240" y="2057400"/>
            <a:ext cx="5212080" cy="896112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4"/>
          <p:cNvSpPr/>
          <p:nvPr/>
        </p:nvSpPr>
        <p:spPr>
          <a:xfrm>
            <a:off x="777240" y="2057400"/>
            <a:ext cx="64008" cy="896112"/>
          </a:xfrm>
          <a:prstGeom prst="roundRect">
            <a:avLst>
              <a:gd fmla="val 8000" name="adj"/>
            </a:avLst>
          </a:prstGeom>
          <a:solidFill>
            <a:srgbClr val="69CF9A"/>
          </a:solidFill>
          <a:ln cap="flat" cmpd="sng" w="9525">
            <a:solidFill>
              <a:srgbClr val="69CF9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4"/>
          <p:cNvSpPr txBox="1"/>
          <p:nvPr/>
        </p:nvSpPr>
        <p:spPr>
          <a:xfrm>
            <a:off x="987552" y="2212848"/>
            <a:ext cx="4818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Network detection</a:t>
            </a:r>
            <a:endParaRPr/>
          </a:p>
        </p:txBody>
      </p:sp>
      <p:sp>
        <p:nvSpPr>
          <p:cNvPr id="410" name="Google Shape;410;p24"/>
          <p:cNvSpPr txBox="1"/>
          <p:nvPr/>
        </p:nvSpPr>
        <p:spPr>
          <a:xfrm>
            <a:off x="987552" y="2624328"/>
            <a:ext cx="4818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Does eth0 detection return the expected local address?</a:t>
            </a:r>
            <a:endParaRPr/>
          </a:p>
        </p:txBody>
      </p:sp>
      <p:sp>
        <p:nvSpPr>
          <p:cNvPr id="411" name="Google Shape;411;p24"/>
          <p:cNvSpPr/>
          <p:nvPr/>
        </p:nvSpPr>
        <p:spPr>
          <a:xfrm>
            <a:off x="6400800" y="2057400"/>
            <a:ext cx="5212080" cy="896112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4"/>
          <p:cNvSpPr/>
          <p:nvPr/>
        </p:nvSpPr>
        <p:spPr>
          <a:xfrm>
            <a:off x="6400800" y="2057400"/>
            <a:ext cx="64008" cy="896112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4"/>
          <p:cNvSpPr txBox="1"/>
          <p:nvPr/>
        </p:nvSpPr>
        <p:spPr>
          <a:xfrm>
            <a:off x="6611112" y="2212848"/>
            <a:ext cx="4818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Configuration</a:t>
            </a:r>
            <a:endParaRPr/>
          </a:p>
        </p:txBody>
      </p:sp>
      <p:sp>
        <p:nvSpPr>
          <p:cNvPr id="414" name="Google Shape;414;p24"/>
          <p:cNvSpPr txBox="1"/>
          <p:nvPr/>
        </p:nvSpPr>
        <p:spPr>
          <a:xfrm>
            <a:off x="6611112" y="2624328"/>
            <a:ext cx="4818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Are manual values validated and errors explained?</a:t>
            </a:r>
            <a:endParaRPr/>
          </a:p>
        </p:txBody>
      </p:sp>
      <p:sp>
        <p:nvSpPr>
          <p:cNvPr id="415" name="Google Shape;415;p24"/>
          <p:cNvSpPr/>
          <p:nvPr/>
        </p:nvSpPr>
        <p:spPr>
          <a:xfrm>
            <a:off x="777240" y="3200400"/>
            <a:ext cx="5212080" cy="896112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777240" y="3200400"/>
            <a:ext cx="64008" cy="896112"/>
          </a:xfrm>
          <a:prstGeom prst="roundRect">
            <a:avLst>
              <a:gd fmla="val 8000" name="adj"/>
            </a:avLst>
          </a:prstGeom>
          <a:solidFill>
            <a:srgbClr val="69CF9A"/>
          </a:solidFill>
          <a:ln cap="flat" cmpd="sng" w="9525">
            <a:solidFill>
              <a:srgbClr val="69CF9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4"/>
          <p:cNvSpPr txBox="1"/>
          <p:nvPr/>
        </p:nvSpPr>
        <p:spPr>
          <a:xfrm>
            <a:off x="987552" y="3355848"/>
            <a:ext cx="4818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Artifact handling</a:t>
            </a:r>
            <a:endParaRPr/>
          </a:p>
        </p:txBody>
      </p:sp>
      <p:sp>
        <p:nvSpPr>
          <p:cNvPr id="418" name="Google Shape;418;p24"/>
          <p:cNvSpPr txBox="1"/>
          <p:nvPr/>
        </p:nvSpPr>
        <p:spPr>
          <a:xfrm>
            <a:off x="987552" y="3767328"/>
            <a:ext cx="4818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Are BAT and ZIP outputs created at the expected location?</a:t>
            </a:r>
            <a:endParaRPr/>
          </a:p>
        </p:txBody>
      </p:sp>
      <p:sp>
        <p:nvSpPr>
          <p:cNvPr id="419" name="Google Shape;419;p24"/>
          <p:cNvSpPr/>
          <p:nvPr/>
        </p:nvSpPr>
        <p:spPr>
          <a:xfrm>
            <a:off x="6400800" y="3200400"/>
            <a:ext cx="5212080" cy="896112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6400800" y="3200400"/>
            <a:ext cx="64008" cy="896112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4"/>
          <p:cNvSpPr txBox="1"/>
          <p:nvPr/>
        </p:nvSpPr>
        <p:spPr>
          <a:xfrm>
            <a:off x="6611112" y="3355848"/>
            <a:ext cx="4818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Windows workflow</a:t>
            </a:r>
            <a:endParaRPr/>
          </a:p>
        </p:txBody>
      </p:sp>
      <p:sp>
        <p:nvSpPr>
          <p:cNvPr id="422" name="Google Shape;422;p24"/>
          <p:cNvSpPr txBox="1"/>
          <p:nvPr/>
        </p:nvSpPr>
        <p:spPr>
          <a:xfrm>
            <a:off x="6611112" y="3767328"/>
            <a:ext cx="4818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Are each of the reported steps observed and logged in the VM?</a:t>
            </a:r>
            <a:endParaRPr/>
          </a:p>
        </p:txBody>
      </p:sp>
      <p:sp>
        <p:nvSpPr>
          <p:cNvPr id="423" name="Google Shape;423;p24"/>
          <p:cNvSpPr/>
          <p:nvPr/>
        </p:nvSpPr>
        <p:spPr>
          <a:xfrm>
            <a:off x="777240" y="4343400"/>
            <a:ext cx="5212080" cy="896112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777240" y="4343400"/>
            <a:ext cx="64008" cy="896112"/>
          </a:xfrm>
          <a:prstGeom prst="roundRect">
            <a:avLst>
              <a:gd fmla="val 8000" name="adj"/>
            </a:avLst>
          </a:prstGeom>
          <a:solidFill>
            <a:srgbClr val="69CF9A"/>
          </a:solidFill>
          <a:ln cap="flat" cmpd="sng" w="9525">
            <a:solidFill>
              <a:srgbClr val="69CF9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4"/>
          <p:cNvSpPr txBox="1"/>
          <p:nvPr/>
        </p:nvSpPr>
        <p:spPr>
          <a:xfrm>
            <a:off x="987552" y="4498848"/>
            <a:ext cx="4818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Listener</a:t>
            </a:r>
            <a:endParaRPr/>
          </a:p>
        </p:txBody>
      </p:sp>
      <p:sp>
        <p:nvSpPr>
          <p:cNvPr id="426" name="Google Shape;426;p24"/>
          <p:cNvSpPr txBox="1"/>
          <p:nvPr/>
        </p:nvSpPr>
        <p:spPr>
          <a:xfrm>
            <a:off x="987552" y="4910328"/>
            <a:ext cx="4818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Does the listener report successful startup or a clear bind error?</a:t>
            </a:r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6400800" y="4343400"/>
            <a:ext cx="5212080" cy="896112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6400800" y="4343400"/>
            <a:ext cx="64008" cy="896112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4"/>
          <p:cNvSpPr txBox="1"/>
          <p:nvPr/>
        </p:nvSpPr>
        <p:spPr>
          <a:xfrm>
            <a:off x="6611112" y="4498848"/>
            <a:ext cx="4818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Defender response</a:t>
            </a:r>
            <a:endParaRPr/>
          </a:p>
        </p:txBody>
      </p:sp>
      <p:sp>
        <p:nvSpPr>
          <p:cNvPr id="430" name="Google Shape;430;p24"/>
          <p:cNvSpPr txBox="1"/>
          <p:nvPr/>
        </p:nvSpPr>
        <p:spPr>
          <a:xfrm>
            <a:off x="6611112" y="4910328"/>
            <a:ext cx="4818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What events, alerts, or blocks are recorded during testing?</a:t>
            </a:r>
            <a:endParaRPr/>
          </a:p>
        </p:txBody>
      </p:sp>
      <p:sp>
        <p:nvSpPr>
          <p:cNvPr id="431" name="Google Shape;431;p24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BB652"/>
                </a:solidFill>
                <a:latin typeface="Arial"/>
                <a:ea typeface="Arial"/>
                <a:cs typeface="Arial"/>
                <a:sym typeface="Arial"/>
              </a:rPr>
              <a:t>Report only verified results; use screenshots or sanitized logs as evidence.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5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5"/>
          <p:cNvSpPr txBox="1"/>
          <p:nvPr/>
        </p:nvSpPr>
        <p:spPr>
          <a:xfrm>
            <a:off x="621792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12 / LIMITATIONS &amp; FUTURE WORK</a:t>
            </a:r>
            <a:endParaRPr/>
          </a:p>
        </p:txBody>
      </p:sp>
      <p:sp>
        <p:nvSpPr>
          <p:cNvPr id="438" name="Google Shape;438;p25"/>
          <p:cNvSpPr/>
          <p:nvPr/>
        </p:nvSpPr>
        <p:spPr>
          <a:xfrm>
            <a:off x="621792" y="621792"/>
            <a:ext cx="10927080" cy="16459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5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440" name="Google Shape;440;p25"/>
          <p:cNvSpPr txBox="1"/>
          <p:nvPr/>
        </p:nvSpPr>
        <p:spPr>
          <a:xfrm>
            <a:off x="6858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Limitations and possible improvements</a:t>
            </a:r>
            <a:endParaRPr/>
          </a:p>
        </p:txBody>
      </p:sp>
      <p:sp>
        <p:nvSpPr>
          <p:cNvPr id="441" name="Google Shape;441;p25"/>
          <p:cNvSpPr txBox="1"/>
          <p:nvPr/>
        </p:nvSpPr>
        <p:spPr>
          <a:xfrm>
            <a:off x="713232" y="15361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A credible project presentation acknowledges what remains to be tested.</a:t>
            </a:r>
            <a:endParaRPr/>
          </a:p>
        </p:txBody>
      </p:sp>
      <p:sp>
        <p:nvSpPr>
          <p:cNvPr id="442" name="Google Shape;442;p25"/>
          <p:cNvSpPr/>
          <p:nvPr/>
        </p:nvSpPr>
        <p:spPr>
          <a:xfrm>
            <a:off x="777240" y="2148840"/>
            <a:ext cx="3429000" cy="196596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5"/>
          <p:cNvSpPr/>
          <p:nvPr/>
        </p:nvSpPr>
        <p:spPr>
          <a:xfrm>
            <a:off x="777240" y="2148840"/>
            <a:ext cx="64008" cy="1965960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 txBox="1"/>
          <p:nvPr/>
        </p:nvSpPr>
        <p:spPr>
          <a:xfrm>
            <a:off x="987552" y="2304288"/>
            <a:ext cx="3035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Environment dependent</a:t>
            </a:r>
            <a:endParaRPr/>
          </a:p>
        </p:txBody>
      </p:sp>
      <p:sp>
        <p:nvSpPr>
          <p:cNvPr id="445" name="Google Shape;445;p25"/>
          <p:cNvSpPr txBox="1"/>
          <p:nvPr/>
        </p:nvSpPr>
        <p:spPr>
          <a:xfrm>
            <a:off x="987552" y="2715768"/>
            <a:ext cx="3035808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Interface names, permissions, firewall rules, and endpoint protection vary.</a:t>
            </a:r>
            <a:endParaRPr/>
          </a:p>
        </p:txBody>
      </p:sp>
      <p:sp>
        <p:nvSpPr>
          <p:cNvPr id="446" name="Google Shape;446;p25"/>
          <p:cNvSpPr/>
          <p:nvPr/>
        </p:nvSpPr>
        <p:spPr>
          <a:xfrm>
            <a:off x="4389120" y="2148840"/>
            <a:ext cx="3429000" cy="196596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4389120" y="2148840"/>
            <a:ext cx="64008" cy="1965960"/>
          </a:xfrm>
          <a:prstGeom prst="roundRect">
            <a:avLst>
              <a:gd fmla="val 8000" name="adj"/>
            </a:avLst>
          </a:prstGeom>
          <a:solidFill>
            <a:srgbClr val="64A0EB"/>
          </a:solidFill>
          <a:ln cap="flat" cmpd="sng" w="9525">
            <a:solidFill>
              <a:srgbClr val="64A0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 txBox="1"/>
          <p:nvPr/>
        </p:nvSpPr>
        <p:spPr>
          <a:xfrm>
            <a:off x="4599432" y="2304288"/>
            <a:ext cx="3035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Error handling</a:t>
            </a:r>
            <a:endParaRPr/>
          </a:p>
        </p:txBody>
      </p:sp>
      <p:sp>
        <p:nvSpPr>
          <p:cNvPr id="449" name="Google Shape;449;p25"/>
          <p:cNvSpPr txBox="1"/>
          <p:nvPr/>
        </p:nvSpPr>
        <p:spPr>
          <a:xfrm>
            <a:off x="4599432" y="2715768"/>
            <a:ext cx="3035808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Improve validation and explain failures such as missing tools or occupied ports.</a:t>
            </a:r>
            <a:endParaRPr/>
          </a:p>
        </p:txBody>
      </p:sp>
      <p:sp>
        <p:nvSpPr>
          <p:cNvPr id="450" name="Google Shape;450;p25"/>
          <p:cNvSpPr/>
          <p:nvPr/>
        </p:nvSpPr>
        <p:spPr>
          <a:xfrm>
            <a:off x="8001000" y="2148840"/>
            <a:ext cx="3429000" cy="196596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5"/>
          <p:cNvSpPr/>
          <p:nvPr/>
        </p:nvSpPr>
        <p:spPr>
          <a:xfrm>
            <a:off x="8001000" y="2148840"/>
            <a:ext cx="64008" cy="1965960"/>
          </a:xfrm>
          <a:prstGeom prst="roundRect">
            <a:avLst>
              <a:gd fmla="val 8000" name="adj"/>
            </a:avLst>
          </a:prstGeom>
          <a:solidFill>
            <a:srgbClr val="69CF9A"/>
          </a:solidFill>
          <a:ln cap="flat" cmpd="sng" w="9525">
            <a:solidFill>
              <a:srgbClr val="69CF9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5"/>
          <p:cNvSpPr txBox="1"/>
          <p:nvPr/>
        </p:nvSpPr>
        <p:spPr>
          <a:xfrm>
            <a:off x="8211312" y="2304288"/>
            <a:ext cx="3035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Safer lab controls</a:t>
            </a:r>
            <a:endParaRPr/>
          </a:p>
        </p:txBody>
      </p:sp>
      <p:sp>
        <p:nvSpPr>
          <p:cNvPr id="453" name="Google Shape;453;p25"/>
          <p:cNvSpPr txBox="1"/>
          <p:nvPr/>
        </p:nvSpPr>
        <p:spPr>
          <a:xfrm>
            <a:off x="8211312" y="2715768"/>
            <a:ext cx="3035808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Add clear warnings, isolated-lab checks, and secure cleanup procedures.</a:t>
            </a:r>
            <a:endParaRPr/>
          </a:p>
        </p:txBody>
      </p:sp>
      <p:sp>
        <p:nvSpPr>
          <p:cNvPr id="454" name="Google Shape;454;p25"/>
          <p:cNvSpPr/>
          <p:nvPr/>
        </p:nvSpPr>
        <p:spPr>
          <a:xfrm>
            <a:off x="914400" y="4818888"/>
            <a:ext cx="86868" cy="86868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5"/>
          <p:cNvSpPr txBox="1"/>
          <p:nvPr/>
        </p:nvSpPr>
        <p:spPr>
          <a:xfrm>
            <a:off x="1133856" y="4709160"/>
            <a:ext cx="9829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Add repeatable tests and a troubleshooting guide</a:t>
            </a:r>
            <a:endParaRPr/>
          </a:p>
        </p:txBody>
      </p:sp>
      <p:sp>
        <p:nvSpPr>
          <p:cNvPr id="456" name="Google Shape;456;p25"/>
          <p:cNvSpPr/>
          <p:nvPr/>
        </p:nvSpPr>
        <p:spPr>
          <a:xfrm>
            <a:off x="914400" y="5276088"/>
            <a:ext cx="86868" cy="86868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5"/>
          <p:cNvSpPr txBox="1"/>
          <p:nvPr/>
        </p:nvSpPr>
        <p:spPr>
          <a:xfrm>
            <a:off x="1133856" y="5166360"/>
            <a:ext cx="9829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Document defensive telemetry and test outcomes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5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6"/>
          <p:cNvSpPr txBox="1"/>
          <p:nvPr/>
        </p:nvSpPr>
        <p:spPr>
          <a:xfrm>
            <a:off x="621792" y="2560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13 / RESPONSIBLE USE</a:t>
            </a:r>
            <a:endParaRPr/>
          </a:p>
        </p:txBody>
      </p:sp>
      <p:sp>
        <p:nvSpPr>
          <p:cNvPr id="464" name="Google Shape;464;p26"/>
          <p:cNvSpPr/>
          <p:nvPr/>
        </p:nvSpPr>
        <p:spPr>
          <a:xfrm>
            <a:off x="621792" y="621792"/>
            <a:ext cx="10927080" cy="16459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6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466" name="Google Shape;466;p26"/>
          <p:cNvSpPr txBox="1"/>
          <p:nvPr/>
        </p:nvSpPr>
        <p:spPr>
          <a:xfrm>
            <a:off x="685800" y="9144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Ethics and scope</a:t>
            </a:r>
            <a:endParaRPr/>
          </a:p>
        </p:txBody>
      </p:sp>
      <p:sp>
        <p:nvSpPr>
          <p:cNvPr id="467" name="Google Shape;467;p26"/>
          <p:cNvSpPr txBox="1"/>
          <p:nvPr/>
        </p:nvSpPr>
        <p:spPr>
          <a:xfrm>
            <a:off x="713232" y="15361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C2 tooling is dual-use; the test boundary must be explicit.</a:t>
            </a:r>
            <a:endParaRPr/>
          </a:p>
        </p:txBody>
      </p:sp>
      <p:sp>
        <p:nvSpPr>
          <p:cNvPr id="468" name="Google Shape;468;p26"/>
          <p:cNvSpPr/>
          <p:nvPr/>
        </p:nvSpPr>
        <p:spPr>
          <a:xfrm>
            <a:off x="822960" y="2286000"/>
            <a:ext cx="3383280" cy="182880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6"/>
          <p:cNvSpPr/>
          <p:nvPr/>
        </p:nvSpPr>
        <p:spPr>
          <a:xfrm>
            <a:off x="822960" y="2286000"/>
            <a:ext cx="64008" cy="1828800"/>
          </a:xfrm>
          <a:prstGeom prst="roundRect">
            <a:avLst>
              <a:gd fmla="val 8000" name="adj"/>
            </a:avLst>
          </a:prstGeom>
          <a:solidFill>
            <a:srgbClr val="69CF9A"/>
          </a:solidFill>
          <a:ln cap="flat" cmpd="sng" w="9525">
            <a:solidFill>
              <a:srgbClr val="69CF9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6"/>
          <p:cNvSpPr txBox="1"/>
          <p:nvPr/>
        </p:nvSpPr>
        <p:spPr>
          <a:xfrm>
            <a:off x="1033272" y="2441448"/>
            <a:ext cx="2990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Authorization</a:t>
            </a:r>
            <a:endParaRPr/>
          </a:p>
        </p:txBody>
      </p:sp>
      <p:sp>
        <p:nvSpPr>
          <p:cNvPr id="471" name="Google Shape;471;p26"/>
          <p:cNvSpPr txBox="1"/>
          <p:nvPr/>
        </p:nvSpPr>
        <p:spPr>
          <a:xfrm>
            <a:off x="1033272" y="2852928"/>
            <a:ext cx="299008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Only use systems you own or have explicit written permission to test.</a:t>
            </a:r>
            <a:endParaRPr/>
          </a:p>
        </p:txBody>
      </p:sp>
      <p:sp>
        <p:nvSpPr>
          <p:cNvPr id="472" name="Google Shape;472;p26"/>
          <p:cNvSpPr/>
          <p:nvPr/>
        </p:nvSpPr>
        <p:spPr>
          <a:xfrm>
            <a:off x="4407408" y="2286000"/>
            <a:ext cx="3383280" cy="182880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4407408" y="2286000"/>
            <a:ext cx="64008" cy="1828800"/>
          </a:xfrm>
          <a:prstGeom prst="roundRect">
            <a:avLst>
              <a:gd fmla="val 8000" name="adj"/>
            </a:avLst>
          </a:prstGeom>
          <a:solidFill>
            <a:srgbClr val="64A0EB"/>
          </a:solidFill>
          <a:ln cap="flat" cmpd="sng" w="9525">
            <a:solidFill>
              <a:srgbClr val="64A0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6"/>
          <p:cNvSpPr txBox="1"/>
          <p:nvPr/>
        </p:nvSpPr>
        <p:spPr>
          <a:xfrm>
            <a:off x="4617720" y="2441448"/>
            <a:ext cx="2990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Isolation</a:t>
            </a:r>
            <a:endParaRPr/>
          </a:p>
        </p:txBody>
      </p:sp>
      <p:sp>
        <p:nvSpPr>
          <p:cNvPr id="475" name="Google Shape;475;p26"/>
          <p:cNvSpPr txBox="1"/>
          <p:nvPr/>
        </p:nvSpPr>
        <p:spPr>
          <a:xfrm>
            <a:off x="4617720" y="2852928"/>
            <a:ext cx="299008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Use a host-only or otherwise isolated virtual lab with controlled networking.</a:t>
            </a:r>
            <a:endParaRPr/>
          </a:p>
        </p:txBody>
      </p:sp>
      <p:sp>
        <p:nvSpPr>
          <p:cNvPr id="476" name="Google Shape;476;p26"/>
          <p:cNvSpPr/>
          <p:nvPr/>
        </p:nvSpPr>
        <p:spPr>
          <a:xfrm>
            <a:off x="8001000" y="2286000"/>
            <a:ext cx="3383280" cy="182880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8001000" y="2286000"/>
            <a:ext cx="64008" cy="1828800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6"/>
          <p:cNvSpPr txBox="1"/>
          <p:nvPr/>
        </p:nvSpPr>
        <p:spPr>
          <a:xfrm>
            <a:off x="8211312" y="2441448"/>
            <a:ext cx="2990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Data protection</a:t>
            </a:r>
            <a:endParaRPr/>
          </a:p>
        </p:txBody>
      </p:sp>
      <p:sp>
        <p:nvSpPr>
          <p:cNvPr id="479" name="Google Shape;479;p26"/>
          <p:cNvSpPr txBox="1"/>
          <p:nvPr/>
        </p:nvSpPr>
        <p:spPr>
          <a:xfrm>
            <a:off x="8211312" y="2852928"/>
            <a:ext cx="299008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Do not collect, retain, or distribute other people's data or artifacts.</a:t>
            </a:r>
            <a:endParaRPr/>
          </a:p>
        </p:txBody>
      </p:sp>
      <p:sp>
        <p:nvSpPr>
          <p:cNvPr id="480" name="Google Shape;480;p26"/>
          <p:cNvSpPr txBox="1"/>
          <p:nvPr/>
        </p:nvSpPr>
        <p:spPr>
          <a:xfrm>
            <a:off x="914400" y="4800600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The goal of the demonstration is to study workflow behavior and defensive detection—not unauthorized access.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15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7"/>
          <p:cNvSpPr/>
          <p:nvPr/>
        </p:nvSpPr>
        <p:spPr>
          <a:xfrm>
            <a:off x="658368" y="777240"/>
            <a:ext cx="82296" cy="5212080"/>
          </a:xfrm>
          <a:prstGeom prst="roundRect">
            <a:avLst>
              <a:gd fmla="val 8000" name="adj"/>
            </a:avLst>
          </a:prstGeom>
          <a:solidFill>
            <a:srgbClr val="E13A44"/>
          </a:solidFill>
          <a:ln cap="flat" cmpd="sng" w="9525">
            <a:solidFill>
              <a:srgbClr val="E13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7"/>
          <p:cNvSpPr txBox="1"/>
          <p:nvPr/>
        </p:nvSpPr>
        <p:spPr>
          <a:xfrm>
            <a:off x="987552" y="91440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13A44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488" name="Google Shape;488;p27"/>
          <p:cNvSpPr txBox="1"/>
          <p:nvPr/>
        </p:nvSpPr>
        <p:spPr>
          <a:xfrm>
            <a:off x="960120" y="1508760"/>
            <a:ext cx="9509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GhostRat C2 Framework</a:t>
            </a:r>
            <a:endParaRPr/>
          </a:p>
        </p:txBody>
      </p:sp>
      <p:sp>
        <p:nvSpPr>
          <p:cNvPr id="489" name="Google Shape;489;p27"/>
          <p:cNvSpPr txBox="1"/>
          <p:nvPr/>
        </p:nvSpPr>
        <p:spPr>
          <a:xfrm>
            <a:off x="1005840" y="233172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A unified lab workflow for configuration, payload artifact handling, Windows-side staging, and listener setup.</a:t>
            </a:r>
            <a:endParaRPr/>
          </a:p>
        </p:txBody>
      </p:sp>
      <p:sp>
        <p:nvSpPr>
          <p:cNvPr id="490" name="Google Shape;490;p27"/>
          <p:cNvSpPr/>
          <p:nvPr/>
        </p:nvSpPr>
        <p:spPr>
          <a:xfrm>
            <a:off x="1005840" y="3566160"/>
            <a:ext cx="7132320" cy="18288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7"/>
          <p:cNvSpPr txBox="1"/>
          <p:nvPr/>
        </p:nvSpPr>
        <p:spPr>
          <a:xfrm>
            <a:off x="1005840" y="393192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Surafel Worku</a:t>
            </a:r>
            <a:endParaRPr/>
          </a:p>
        </p:txBody>
      </p:sp>
      <p:sp>
        <p:nvSpPr>
          <p:cNvPr id="492" name="Google Shape;492;p27"/>
          <p:cNvSpPr txBox="1"/>
          <p:nvPr/>
        </p:nvSpPr>
        <p:spPr>
          <a:xfrm>
            <a:off x="1005840" y="443484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9CF9A"/>
                </a:solidFill>
                <a:latin typeface="Arial"/>
                <a:ea typeface="Arial"/>
                <a:cs typeface="Arial"/>
                <a:sym typeface="Arial"/>
              </a:rPr>
              <a:t>github.com/surafel-creater</a:t>
            </a:r>
            <a:endParaRPr/>
          </a:p>
        </p:txBody>
      </p:sp>
      <p:sp>
        <p:nvSpPr>
          <p:cNvPr id="493" name="Google Shape;493;p27"/>
          <p:cNvSpPr txBox="1"/>
          <p:nvPr/>
        </p:nvSpPr>
        <p:spPr>
          <a:xfrm>
            <a:off x="1005840" y="58064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0BF"/>
                </a:solidFill>
                <a:latin typeface="Arial"/>
                <a:ea typeface="Arial"/>
                <a:cs typeface="Arial"/>
                <a:sym typeface="Arial"/>
              </a:rPr>
              <a:t>Thank you • Questions?</a:t>
            </a:r>
            <a:endParaRPr/>
          </a:p>
        </p:txBody>
      </p:sp>
      <p:sp>
        <p:nvSpPr>
          <p:cNvPr id="494" name="Google Shape;494;p27"/>
          <p:cNvSpPr/>
          <p:nvPr/>
        </p:nvSpPr>
        <p:spPr>
          <a:xfrm>
            <a:off x="8458200" y="1828800"/>
            <a:ext cx="2423160" cy="2423160"/>
          </a:xfrm>
          <a:prstGeom prst="roundRect">
            <a:avLst>
              <a:gd fmla="val 8000" name="adj"/>
            </a:avLst>
          </a:prstGeom>
          <a:solidFill>
            <a:srgbClr val="161B24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7"/>
          <p:cNvSpPr txBox="1"/>
          <p:nvPr/>
        </p:nvSpPr>
        <p:spPr>
          <a:xfrm>
            <a:off x="8686800" y="2240280"/>
            <a:ext cx="1965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/>
          </a:p>
          <a:p>
            <a:pPr indent="0" lvl="0" marL="0" marR="0" rtl="0" algn="ctr"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1F3F7"/>
                </a:solidFill>
                <a:latin typeface="Arial"/>
                <a:ea typeface="Arial"/>
                <a:cs typeface="Arial"/>
                <a:sym typeface="Arial"/>
              </a:rPr>
              <a:t>COMPLETE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